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78" d="100"/>
          <a:sy n="78" d="100"/>
        </p:scale>
        <p:origin x="1594" y="-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"/>
          <p:cNvSpPr>
            <a:spLocks/>
          </p:cNvSpPr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rotWithShape="1">
            <a:gsLst>
              <a:gs pos="0">
                <a:srgbClr val="9B6BF2">
                  <a:alpha val="6666"/>
                </a:srgbClr>
              </a:gs>
              <a:gs pos="69000">
                <a:srgbClr val="9B6BF2">
                  <a:alpha val="0"/>
                </a:srgbClr>
              </a:gs>
              <a:gs pos="36000">
                <a:srgbClr val="9B6BF2">
                  <a:alpha val="5882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14" name="椭圆"/>
          <p:cNvSpPr>
            <a:spLocks/>
          </p:cNvSpPr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rotWithShape="1">
            <a:gsLst>
              <a:gs pos="0">
                <a:srgbClr val="9B6BF2">
                  <a:alpha val="13725"/>
                </a:srgbClr>
              </a:gs>
              <a:gs pos="73000">
                <a:srgbClr val="9B6BF2">
                  <a:alpha val="0"/>
                </a:srgbClr>
              </a:gs>
              <a:gs pos="36000">
                <a:srgbClr val="9B6BF2">
                  <a:alpha val="6666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15" name="椭圆"/>
          <p:cNvSpPr>
            <a:spLocks/>
          </p:cNvSpPr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rotWithShape="1">
            <a:gsLst>
              <a:gs pos="0">
                <a:srgbClr val="9B6BF2">
                  <a:alpha val="13725"/>
                </a:srgbClr>
              </a:gs>
              <a:gs pos="66000">
                <a:srgbClr val="9B6BF2">
                  <a:alpha val="0"/>
                </a:srgbClr>
              </a:gs>
              <a:gs pos="36000">
                <a:srgbClr val="9B6BF2">
                  <a:alpha val="6666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16" name="椭圆"/>
          <p:cNvSpPr>
            <a:spLocks/>
          </p:cNvSpPr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rotWithShape="1">
            <a:gsLst>
              <a:gs pos="0">
                <a:srgbClr val="9B6BF2">
                  <a:alpha val="10980"/>
                </a:srgbClr>
              </a:gs>
              <a:gs pos="75000">
                <a:srgbClr val="9B6BF2">
                  <a:alpha val="0"/>
                </a:srgbClr>
              </a:gs>
              <a:gs pos="36000">
                <a:srgbClr val="9B6BF2">
                  <a:alpha val="9803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17" name="椭圆"/>
          <p:cNvSpPr>
            <a:spLocks/>
          </p:cNvSpPr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rotWithShape="1">
            <a:gsLst>
              <a:gs pos="0">
                <a:srgbClr val="9B6BF2">
                  <a:alpha val="7843"/>
                </a:srgbClr>
              </a:gs>
              <a:gs pos="72000">
                <a:srgbClr val="9B6BF2">
                  <a:alpha val="0"/>
                </a:srgbClr>
              </a:gs>
              <a:gs pos="36000">
                <a:srgbClr val="9B6BF2">
                  <a:alpha val="7843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18" name="矩形"/>
          <p:cNvSpPr>
            <a:spLocks/>
          </p:cNvSpPr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</p:sp>
      <p:sp>
        <p:nvSpPr>
          <p:cNvPr id="19" name="文本框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Click to edit Master title style</a:t>
            </a:r>
            <a:endParaRPr lang="zh-CN" altLang="en-US" sz="7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all" spc="0" baseline="0">
                <a:solidFill>
                  <a:srgbClr val="EF51A4"/>
                </a:solidFill>
                <a:latin typeface="Century Gothic" charset="0"/>
                <a:ea typeface="宋体" charset="0"/>
                <a:cs typeface="Lucida Sans" charset="0"/>
              </a:rPr>
              <a:t>Click to edit Master subtitle style</a:t>
            </a:r>
            <a:endParaRPr lang="zh-CN" altLang="en-US" sz="2000" b="0" i="0" u="none" strike="noStrike" kern="1200" cap="all" spc="0" baseline="0">
              <a:solidFill>
                <a:srgbClr val="EF51A4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8" cy="2286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100" b="0" i="0" u="none" strike="noStrike" kern="1200" cap="none" spc="0" baseline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ftr"/>
          </p:nvPr>
        </p:nvSpPr>
        <p:spPr>
          <a:xfrm rot="5400000">
            <a:off x="6233335" y="3263371"/>
            <a:ext cx="3859795" cy="2286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100" b="0" i="0" u="none" strike="noStrike" kern="1200" cap="none" spc="0" baseline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sldNum"/>
          </p:nvPr>
        </p:nvSpPr>
        <p:spPr>
          <a:xfrm>
            <a:off x="7766431" y="295736"/>
            <a:ext cx="628813" cy="7676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2801" b="0" i="0" u="none" strike="noStrike" kern="1200" cap="none" spc="0" baseline="0">
                <a:solidFill>
                  <a:srgbClr val="FFFFFF"/>
                </a:solidFill>
                <a:latin typeface="Century Gothic" charset="0"/>
                <a:ea typeface="宋体" charset="0"/>
                <a:cs typeface="Century Gothic" charset="0"/>
              </a:rPr>
              <a:t>‹#›</a:t>
            </a:fld>
            <a:endParaRPr lang="zh-CN" altLang="en-US" sz="2801" b="0" i="0" u="none" strike="noStrike" kern="1200" cap="none" spc="0" baseline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61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05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16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186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47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472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246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32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86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57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108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椭圆"/>
          <p:cNvSpPr>
            <a:spLocks/>
          </p:cNvSpPr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rotWithShape="1">
            <a:gsLst>
              <a:gs pos="0">
                <a:srgbClr val="9B6BF2">
                  <a:alpha val="6666"/>
                </a:srgbClr>
              </a:gs>
              <a:gs pos="69000">
                <a:srgbClr val="9B6BF2">
                  <a:alpha val="0"/>
                </a:srgbClr>
              </a:gs>
              <a:gs pos="36000">
                <a:srgbClr val="9B6BF2">
                  <a:alpha val="5882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27" name="椭圆"/>
          <p:cNvSpPr>
            <a:spLocks/>
          </p:cNvSpPr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rotWithShape="1">
            <a:gsLst>
              <a:gs pos="0">
                <a:srgbClr val="9B6BF2">
                  <a:alpha val="13725"/>
                </a:srgbClr>
              </a:gs>
              <a:gs pos="73000">
                <a:srgbClr val="9B6BF2">
                  <a:alpha val="0"/>
                </a:srgbClr>
              </a:gs>
              <a:gs pos="36000">
                <a:srgbClr val="9B6BF2">
                  <a:alpha val="6666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28" name="椭圆"/>
          <p:cNvSpPr>
            <a:spLocks/>
          </p:cNvSpPr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rotWithShape="1">
            <a:gsLst>
              <a:gs pos="0">
                <a:srgbClr val="9B6BF2">
                  <a:alpha val="13725"/>
                </a:srgbClr>
              </a:gs>
              <a:gs pos="66000">
                <a:srgbClr val="9B6BF2">
                  <a:alpha val="0"/>
                </a:srgbClr>
              </a:gs>
              <a:gs pos="36000">
                <a:srgbClr val="9B6BF2">
                  <a:alpha val="6666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29" name="椭圆"/>
          <p:cNvSpPr>
            <a:spLocks/>
          </p:cNvSpPr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rotWithShape="1">
            <a:gsLst>
              <a:gs pos="0">
                <a:srgbClr val="9B6BF2">
                  <a:alpha val="10980"/>
                </a:srgbClr>
              </a:gs>
              <a:gs pos="75000">
                <a:srgbClr val="9B6BF2">
                  <a:alpha val="0"/>
                </a:srgbClr>
              </a:gs>
              <a:gs pos="36000">
                <a:srgbClr val="9B6BF2">
                  <a:alpha val="9803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30" name="椭圆"/>
          <p:cNvSpPr>
            <a:spLocks/>
          </p:cNvSpPr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rotWithShape="1">
            <a:gsLst>
              <a:gs pos="0">
                <a:srgbClr val="9B6BF2">
                  <a:alpha val="7843"/>
                </a:srgbClr>
              </a:gs>
              <a:gs pos="72000">
                <a:srgbClr val="9B6BF2">
                  <a:alpha val="0"/>
                </a:srgbClr>
              </a:gs>
              <a:gs pos="36000">
                <a:srgbClr val="9B6BF2">
                  <a:alpha val="7843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31" name="矩形"/>
          <p:cNvSpPr>
            <a:spLocks/>
          </p:cNvSpPr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</p:sp>
      <p:sp>
        <p:nvSpPr>
          <p:cNvPr id="32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3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34" name="文本框"/>
          <p:cNvSpPr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8" cy="2286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100" b="0" i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  <p:sp>
        <p:nvSpPr>
          <p:cNvPr id="35" name="文本框"/>
          <p:cNvSpPr>
            <a:spLocks noGrp="1"/>
          </p:cNvSpPr>
          <p:nvPr>
            <p:ph type="ftr"/>
          </p:nvPr>
        </p:nvSpPr>
        <p:spPr>
          <a:xfrm rot="5400000">
            <a:off x="6233335" y="3263371"/>
            <a:ext cx="3859795" cy="2286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100" b="0" i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  <p:sp>
        <p:nvSpPr>
          <p:cNvPr id="36" name="文本框"/>
          <p:cNvSpPr>
            <a:spLocks noGrp="1"/>
          </p:cNvSpPr>
          <p:nvPr>
            <p:ph type="sldNum"/>
          </p:nvPr>
        </p:nvSpPr>
        <p:spPr>
          <a:xfrm>
            <a:off x="7766431" y="295736"/>
            <a:ext cx="628813" cy="7676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2801" b="0" i="0" u="none" strike="noStrike" kern="1200" cap="none" spc="0" baseline="0">
                <a:solidFill>
                  <a:srgbClr val="FFFFFF"/>
                </a:solidFill>
                <a:latin typeface="Century Gothic" charset="0"/>
                <a:ea typeface="宋体" charset="0"/>
                <a:cs typeface="Century Gothic" charset="0"/>
              </a:rPr>
              <a:t>‹#›</a:t>
            </a:fld>
            <a:endParaRPr lang="zh-CN" altLang="en-US" sz="2801" b="0" i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18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"/>
          <p:cNvSpPr>
            <a:spLocks/>
          </p:cNvSpPr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rotWithShape="1">
            <a:gsLst>
              <a:gs pos="0">
                <a:srgbClr val="9B6BF2">
                  <a:alpha val="6666"/>
                </a:srgbClr>
              </a:gs>
              <a:gs pos="69000">
                <a:srgbClr val="9B6BF2">
                  <a:alpha val="0"/>
                </a:srgbClr>
              </a:gs>
              <a:gs pos="36000">
                <a:srgbClr val="9B6BF2">
                  <a:alpha val="5882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3" name="椭圆"/>
          <p:cNvSpPr>
            <a:spLocks/>
          </p:cNvSpPr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rotWithShape="1">
            <a:gsLst>
              <a:gs pos="0">
                <a:srgbClr val="9B6BF2">
                  <a:alpha val="13725"/>
                </a:srgbClr>
              </a:gs>
              <a:gs pos="73000">
                <a:srgbClr val="9B6BF2">
                  <a:alpha val="0"/>
                </a:srgbClr>
              </a:gs>
              <a:gs pos="36000">
                <a:srgbClr val="9B6BF2">
                  <a:alpha val="6666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4" name="椭圆"/>
          <p:cNvSpPr>
            <a:spLocks/>
          </p:cNvSpPr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rotWithShape="1">
            <a:gsLst>
              <a:gs pos="0">
                <a:srgbClr val="9B6BF2">
                  <a:alpha val="13725"/>
                </a:srgbClr>
              </a:gs>
              <a:gs pos="66000">
                <a:srgbClr val="9B6BF2">
                  <a:alpha val="0"/>
                </a:srgbClr>
              </a:gs>
              <a:gs pos="36000">
                <a:srgbClr val="9B6BF2">
                  <a:alpha val="6666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5" name="椭圆"/>
          <p:cNvSpPr>
            <a:spLocks/>
          </p:cNvSpPr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rotWithShape="1">
            <a:gsLst>
              <a:gs pos="0">
                <a:srgbClr val="9B6BF2">
                  <a:alpha val="10980"/>
                </a:srgbClr>
              </a:gs>
              <a:gs pos="75000">
                <a:srgbClr val="9B6BF2">
                  <a:alpha val="0"/>
                </a:srgbClr>
              </a:gs>
              <a:gs pos="36000">
                <a:srgbClr val="9B6BF2">
                  <a:alpha val="9803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6" name="椭圆"/>
          <p:cNvSpPr>
            <a:spLocks/>
          </p:cNvSpPr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rotWithShape="1">
            <a:gsLst>
              <a:gs pos="0">
                <a:srgbClr val="9B6BF2">
                  <a:alpha val="7843"/>
                </a:srgbClr>
              </a:gs>
              <a:gs pos="72000">
                <a:srgbClr val="9B6BF2">
                  <a:alpha val="0"/>
                </a:srgbClr>
              </a:gs>
              <a:gs pos="36000">
                <a:srgbClr val="9B6BF2">
                  <a:alpha val="7843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/>
          </p:cNvSpPr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</p:sp>
      <p:sp>
        <p:nvSpPr>
          <p:cNvPr id="8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0" name="文本框"/>
          <p:cNvSpPr>
            <a:spLocks noGrp="1"/>
          </p:cNvSpPr>
          <p:nvPr>
            <p:ph type="dt" idx="2"/>
          </p:nvPr>
        </p:nvSpPr>
        <p:spPr>
          <a:xfrm rot="5400000">
            <a:off x="7494989" y="1828771"/>
            <a:ext cx="990598" cy="2286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100" b="0" i="0">
                <a:solidFill>
                  <a:srgbClr val="FFFFFF"/>
                </a:solidFill>
                <a:latin typeface="Century Gothic" charset="0"/>
                <a:ea typeface="宋体" charset="0"/>
                <a:cs typeface="Century Gothic" charset="0"/>
              </a:rPr>
              <a:t>7/14/2026</a:t>
            </a:fld>
            <a:endParaRPr lang="zh-CN" altLang="en-US" sz="1100" b="0" i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ftr" idx="3"/>
          </p:nvPr>
        </p:nvSpPr>
        <p:spPr>
          <a:xfrm rot="5400000">
            <a:off x="6233335" y="3263371"/>
            <a:ext cx="3859795" cy="2286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100" b="0" i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  <p:sp>
        <p:nvSpPr>
          <p:cNvPr id="12" name="文本框"/>
          <p:cNvSpPr>
            <a:spLocks noGrp="1"/>
          </p:cNvSpPr>
          <p:nvPr>
            <p:ph type="sldNum" idx="4"/>
          </p:nvPr>
        </p:nvSpPr>
        <p:spPr>
          <a:xfrm>
            <a:off x="7766431" y="295736"/>
            <a:ext cx="628813" cy="7676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2801" b="0" i="0" u="none" strike="noStrike" kern="1200" cap="none" spc="0" baseline="0">
                <a:solidFill>
                  <a:srgbClr val="FFFFFF"/>
                </a:solidFill>
                <a:latin typeface="Century Gothic" charset="0"/>
                <a:ea typeface="宋体" charset="0"/>
                <a:cs typeface="Century Gothic" charset="0"/>
              </a:rPr>
              <a:t>‹#›</a:t>
            </a:fld>
            <a:endParaRPr lang="zh-CN" altLang="en-US" sz="2801" b="0" i="0">
              <a:solidFill>
                <a:srgbClr val="FFFFFF"/>
              </a:solidFill>
              <a:latin typeface="Century Gothic" charset="0"/>
              <a:ea typeface="宋体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02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spcBef>
          <a:spcPts val="0"/>
        </a:spcBef>
        <a:buNone/>
        <a:defRPr sz="4200" b="0" i="0" kern="1200">
          <a:solidFill>
            <a:schemeClr val="tx2"/>
          </a:solidFill>
          <a:latin typeface="Century Gothic" charset="0"/>
          <a:ea typeface="宋体" charset="0"/>
          <a:cs typeface="Century Gothic" charset="0"/>
        </a:defRPr>
      </a:lvl1pPr>
    </p:titleStyle>
    <p:bodyStyle>
      <a:lvl1pPr marL="342900" indent="-34290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1pPr>
      <a:lvl2pPr marL="742950" indent="-28575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2pPr>
      <a:lvl3pPr marL="11430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3pPr>
      <a:lvl4pPr marL="16002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4pPr>
      <a:lvl5pPr marL="20574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5pPr>
      <a:lvl6pPr marL="25146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6pPr>
      <a:lvl7pPr marL="29718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7pPr>
      <a:lvl8pPr marL="34290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8pPr>
      <a:lvl9pPr marL="3429000" indent="-228600" algn="l" defTabSz="914400" eaLnBrk="1" fontAlgn="auto" latinLnBrk="0" hangingPunct="1">
        <a:spcBef>
          <a:spcPts val="1000"/>
        </a:spcBef>
        <a:spcAft>
          <a:spcPts val="0"/>
        </a:spcAft>
        <a:buClr>
          <a:srgbClr val="EF51A4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entury Gothic" charset="0"/>
          <a:ea typeface="宋体" charset="0"/>
          <a:cs typeface="Century Gothic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Smart</a:t>
            </a:r>
            <a:br>
              <a:rPr lang="en-US" altLang="zh-CN" sz="7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</a:br>
            <a:r>
              <a:rPr lang="en-US" altLang="zh-CN" sz="7200">
                <a:cs typeface="Lucida Sans" charset="0"/>
              </a:rPr>
              <a:t>library request</a:t>
            </a:r>
            <a:br>
              <a:rPr lang="en-US" altLang="zh-CN" sz="7200">
                <a:cs typeface="Lucida Sans" charset="0"/>
              </a:rPr>
            </a:br>
            <a:r>
              <a:rPr lang="en-US" altLang="zh-CN" sz="7200">
                <a:cs typeface="Lucida Sans" charset="0"/>
              </a:rPr>
              <a:t>workflow</a:t>
            </a:r>
            <a:endParaRPr lang="zh-CN" altLang="en-US" sz="7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all" spc="0" baseline="0">
                <a:solidFill>
                  <a:srgbClr val="EF51A4"/>
                </a:solidFill>
                <a:latin typeface="Century Gothic" charset="0"/>
                <a:ea typeface="宋体" charset="0"/>
                <a:cs typeface="Lucida Sans" charset="0"/>
              </a:rPr>
              <a:t>Using ServiceNow Service Portal</a:t>
            </a:r>
            <a:endParaRPr lang="zh-CN" altLang="en-US" sz="2200" b="0" i="0" u="none" strike="noStrike" kern="1200" cap="all" spc="0" baseline="0">
              <a:solidFill>
                <a:srgbClr val="EF51A4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46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1" i="1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Abstract</a:t>
            </a:r>
            <a:endParaRPr lang="zh-CN" altLang="en-US" sz="4200" b="1" i="1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Automates sports hall reservations using the ServiceNow platform.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Provides real-time slot availability through the Service Portal.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Streamlines booking approvals using Flow Designer workflows.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Prevents duplicate bookings with centralized data management.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Enhances efficiency, transparency, and user experience through workflow automation.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02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Problem Statement</a:t>
            </a:r>
            <a:endParaRPr lang="zh-CN" altLang="en-US" sz="4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40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The manual sports hall booking process is inefficient, time-consuming, and prone to booking conflicts.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The lack of an automated booking system leads to scheduling conflicts, delayed approvals, and poor resource management.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Manual reservation methods make sports hall booking slow, inaccurate, and difficult to manage.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An automated solution is needed to simplify sports hall reservations and improve booking efficiency.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The absence of a centralized booking system results in poor transparency and inefficient sports facility management</a:t>
            </a:r>
            <a:r>
              <a:rPr lang="en-US" altLang="zh-CN" sz="1700" b="1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32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Objectives</a:t>
            </a:r>
            <a:endParaRPr lang="zh-CN" altLang="en-US" sz="4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42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automate the sports hall booking process.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provide real-time slot availability.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eliminate duplicate bookings.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simplify the reservation process.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automate booking approvals.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send instant booking notifications.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improve resource utilization.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enhance user experience.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maintain secure booking records.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●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To increase operational efficiency.</a:t>
            </a:r>
            <a:endParaRPr lang="zh-CN" altLang="en-US" sz="19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761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                 Workflow</a:t>
            </a:r>
            <a:endParaRPr lang="zh-CN" altLang="en-US" sz="4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User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 │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 ▼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Booking Form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 │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 ▼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Sports Hall Booking Table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 │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 ▼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Flow Designer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 │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Approve / Reject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Update Status</a:t>
            </a:r>
          </a:p>
          <a:p>
            <a: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Send Notification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79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Testing</a:t>
            </a:r>
            <a:endParaRPr lang="zh-CN" altLang="en-US" sz="4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Verified user login functionality. 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Tested sports hall booking process. 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Validated real-time slot availability. 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Prevented duplicate bookings successfully. 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Tested automated approval workflow.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Verified booking status updates.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Confirmed email notification delivery.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Validated data storage in the database. 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Tested user-friendly Service Portal interface. 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Ensured overall system performance and reliability.</a:t>
            </a:r>
            <a:endParaRPr lang="zh-CN" altLang="en-US" sz="19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9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Advantages</a:t>
            </a:r>
            <a:endParaRPr lang="zh-CN" altLang="en-US" sz="4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Automates the entire sports hall booking process.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Provides real-time sports hall availability.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Prevents duplicate and conflicting bookings.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Streamlines approval workflows through automation.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Enhances operational efficiency and productivity.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Improves transparency in reservation management.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Ensures secure and centralized data management.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Delivers automated booking notifications.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Reduces administrative workload and manual errors. </a:t>
            </a: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Offers a scalable and user-friendly booking solution.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628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Future Scope</a:t>
            </a:r>
            <a:endParaRPr lang="zh-CN" altLang="en-US" sz="4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Develop a mobile application for seamless booking access.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Integrate QR code–based check-in and attendance tracking.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Implement online payment gateway integration. 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Enable calendar synchronization with Google and Outlook.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Incorporate AI-based slot recommendations for users. 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Develop advanced analytics and reporting dashboards.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Support multiple campuses and sports facilities.</a:t>
            </a:r>
          </a:p>
          <a:p>
            <a:pPr marL="342900" indent="-3429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◆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Implement role-based access with enhanced security features.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467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"/>
          <p:cNvSpPr>
            <a:spLocks noGrp="1"/>
          </p:cNvSpPr>
          <p:nvPr>
            <p:ph type="title"/>
          </p:nvPr>
        </p:nvSpPr>
        <p:spPr>
          <a:xfrm>
            <a:off x="484709" y="452717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chemeClr val="tx2"/>
                </a:solidFill>
                <a:latin typeface="Century Gothic" charset="0"/>
                <a:ea typeface="宋体" charset="0"/>
                <a:cs typeface="Lucida Sans" charset="0"/>
              </a:rPr>
              <a:t>Conclusion</a:t>
            </a:r>
            <a:endParaRPr lang="zh-CN" altLang="en-US" sz="4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52" name="文本框"/>
          <p:cNvSpPr>
            <a:spLocks noGrp="1"/>
          </p:cNvSpPr>
          <p:nvPr>
            <p:ph type="body" idx="1"/>
          </p:nvPr>
        </p:nvSpPr>
        <p:spPr>
          <a:xfrm>
            <a:off x="827699" y="205292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  <a:effectLst>
            <a:outerShdw blurRad="50800" dist="38100" dir="8100000" algn="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51A4"/>
              </a:buClr>
              <a:buSzPct val="80000"/>
              <a:buFont typeface="Droid Sans" charset="0"/>
              <a:buChar char="★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The Sports Hall Booking System successfully modernizes sports facility management by delivering an automated, secure, and scalable reservation platform through the powerful capabilities of the ServiceNow ecosystem. 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03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rgbClr val="141940"/>
              <a:srgbClr val="8A3875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"/>
          <p:cNvSpPr>
            <a:spLocks noGrp="1"/>
          </p:cNvSpPr>
          <p:nvPr>
            <p:ph type="title"/>
          </p:nvPr>
        </p:nvSpPr>
        <p:spPr>
          <a:xfrm>
            <a:off x="484709" y="452718"/>
            <a:ext cx="7055380" cy="1400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200" b="0" i="0" u="none" strike="noStrike" kern="1200" cap="none" spc="0" baseline="0">
              <a:solidFill>
                <a:schemeClr val="tx2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  <p:sp>
        <p:nvSpPr>
          <p:cNvPr id="54" name="文本框"/>
          <p:cNvSpPr>
            <a:spLocks noGrp="1"/>
          </p:cNvSpPr>
          <p:nvPr>
            <p:ph type="body" idx="1"/>
          </p:nvPr>
        </p:nvSpPr>
        <p:spPr>
          <a:xfrm>
            <a:off x="1313466" y="1309985"/>
            <a:ext cx="6711654" cy="41954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6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                     			    		THANKYOU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67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6700" b="0" i="0" u="none" strike="noStrike" kern="1200" cap="none" spc="0" baseline="0">
                <a:solidFill>
                  <a:schemeClr val="tx1"/>
                </a:solidFill>
                <a:latin typeface="Century Gothic" charset="0"/>
                <a:ea typeface="宋体" charset="0"/>
                <a:cs typeface="Lucida Sans" charset="0"/>
              </a:rPr>
              <a:t>											</a:t>
            </a:r>
            <a:endParaRPr lang="zh-CN" altLang="en-US" sz="6700" b="0" i="0" u="none" strike="noStrike" kern="1200" cap="none" spc="0" baseline="0">
              <a:solidFill>
                <a:schemeClr val="tx1"/>
              </a:solidFill>
              <a:latin typeface="Century Gothic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575698"/>
      </p:ext>
    </p:extLst>
  </p:cSld>
  <p:clrMapOvr>
    <a:masterClrMapping/>
  </p:clrMapOvr>
</p:sld>
</file>

<file path=ppt/theme/theme1.xml><?xml version="1.0" encoding="utf-8"?>
<a:theme xmlns:a="http://schemas.openxmlformats.org/drawingml/2006/main" name="Ion">
  <a:themeElements>
    <a:clrScheme name="Ion">
      <a:dk1>
        <a:srgbClr val="FFFFFF"/>
      </a:dk1>
      <a:lt1>
        <a:srgbClr val="000000"/>
      </a:lt1>
      <a:dk2>
        <a:srgbClr val="EBEBEB"/>
      </a:dk2>
      <a:lt2>
        <a:srgbClr val="3B3059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Ion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58</TotalTime>
  <Words>496</Words>
  <Application>Microsoft Office PowerPoint</Application>
  <PresentationFormat>On-screen Show (4:3)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Century Gothic</vt:lpstr>
      <vt:lpstr>Droid Sans</vt:lpstr>
      <vt:lpstr>Lucida Sans</vt:lpstr>
      <vt:lpstr>Wingdings 3</vt:lpstr>
      <vt:lpstr>Ion</vt:lpstr>
      <vt:lpstr>Smart library request workflow</vt:lpstr>
      <vt:lpstr>Abstract</vt:lpstr>
      <vt:lpstr>Problem Statement</vt:lpstr>
      <vt:lpstr>Objectives</vt:lpstr>
      <vt:lpstr>                 Workflow</vt:lpstr>
      <vt:lpstr>Testing</vt:lpstr>
      <vt:lpstr>Advantages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nakkamohansai961@gmail.com</cp:lastModifiedBy>
  <cp:revision>5</cp:revision>
  <dcterms:created xsi:type="dcterms:W3CDTF">2013-01-27T09:14:16Z</dcterms:created>
  <dcterms:modified xsi:type="dcterms:W3CDTF">2026-07-14T16:12:45Z</dcterms:modified>
</cp:coreProperties>
</file>